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668fc6b164dc5" /><Relationship Type="http://schemas.openxmlformats.org/officeDocument/2006/relationships/extended-properties" Target="/docProps/app.xml" Id="R3396727d12e94189" /><Relationship Type="http://schemas.openxmlformats.org/officeDocument/2006/relationships/officeDocument" Target="/ppt/presentation.xml" Id="R3db416044685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1346a3768e470b"/>
  </p:sldMasterIdLst>
  <p:notesMasterIdLst>
    <p:notesMasterId xmlns:r="http://schemas.openxmlformats.org/officeDocument/2006/relationships" r:id="R0d55d67b609146dd"/>
  </p:notesMasterIdLst>
  <p:sldIdLst>
    <p:sldId xmlns:r="http://schemas.openxmlformats.org/officeDocument/2006/relationships" id="256" r:id="Rbecd7dea2fab4ffe"/>
    <p:sldId xmlns:r="http://schemas.openxmlformats.org/officeDocument/2006/relationships" id="257" r:id="Rf35929c1790845ff"/>
    <p:sldId xmlns:r="http://schemas.openxmlformats.org/officeDocument/2006/relationships" id="258" r:id="Ra44abfdfeac04fbd"/>
    <p:sldId xmlns:r="http://schemas.openxmlformats.org/officeDocument/2006/relationships" id="259" r:id="Ra309da29a2b744a2"/>
    <p:sldId xmlns:r="http://schemas.openxmlformats.org/officeDocument/2006/relationships" id="260" r:id="R011d38d1bde9458a"/>
    <p:sldId xmlns:r="http://schemas.openxmlformats.org/officeDocument/2006/relationships" id="261" r:id="R7f91e4064d8b4476"/>
    <p:sldId xmlns:r="http://schemas.openxmlformats.org/officeDocument/2006/relationships" id="262" r:id="Rd373984f8d78437e"/>
    <p:sldId xmlns:r="http://schemas.openxmlformats.org/officeDocument/2006/relationships" id="263" r:id="Rf8ce243a2e69402f"/>
    <p:sldId xmlns:r="http://schemas.openxmlformats.org/officeDocument/2006/relationships" id="264" r:id="R9c4e6d6fe4ab4e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3bf386792744d9" /><Relationship Type="http://schemas.openxmlformats.org/officeDocument/2006/relationships/slideMaster" Target="/ppt/slideMasters/slideMaster1.xml" Id="Rc81346a3768e470b" /><Relationship Type="http://schemas.openxmlformats.org/officeDocument/2006/relationships/notesMaster" Target="/ppt/notesMasters/notesMaster1.xml" Id="R0d55d67b609146dd" /><Relationship Type="http://schemas.openxmlformats.org/officeDocument/2006/relationships/presProps" Target="/ppt/presProps.xml" Id="R80ec4a047f6b491d" /><Relationship Type="http://schemas.openxmlformats.org/officeDocument/2006/relationships/tableStyles" Target="/ppt/tableStyles.xml" Id="Rc6392c57976e4eee" /><Relationship Type="http://schemas.openxmlformats.org/officeDocument/2006/relationships/slide" Target="/ppt/slides/slide1.xml" Id="Rbecd7dea2fab4ffe" /><Relationship Type="http://schemas.openxmlformats.org/officeDocument/2006/relationships/slide" Target="/ppt/slides/slide2.xml" Id="Rf35929c1790845ff" /><Relationship Type="http://schemas.openxmlformats.org/officeDocument/2006/relationships/slide" Target="/ppt/slides/slide3.xml" Id="Ra44abfdfeac04fbd" /><Relationship Type="http://schemas.openxmlformats.org/officeDocument/2006/relationships/slide" Target="/ppt/slides/slide4.xml" Id="Ra309da29a2b744a2" /><Relationship Type="http://schemas.openxmlformats.org/officeDocument/2006/relationships/slide" Target="/ppt/slides/slide5.xml" Id="R011d38d1bde9458a" /><Relationship Type="http://schemas.openxmlformats.org/officeDocument/2006/relationships/slide" Target="/ppt/slides/slide6.xml" Id="R7f91e4064d8b4476" /><Relationship Type="http://schemas.openxmlformats.org/officeDocument/2006/relationships/slide" Target="/ppt/slides/slide7.xml" Id="Rd373984f8d78437e" /><Relationship Type="http://schemas.openxmlformats.org/officeDocument/2006/relationships/slide" Target="/ppt/slides/slide8.xml" Id="Rf8ce243a2e69402f" /><Relationship Type="http://schemas.openxmlformats.org/officeDocument/2006/relationships/slide" Target="/ppt/slides/slide9.xml" Id="R9c4e6d6fe4ab4e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570074049e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9864b7924443f" /><Relationship Type="http://schemas.openxmlformats.org/officeDocument/2006/relationships/notesMaster" Target="/ppt/notesMasters/notesMaster1.xml" Id="R6ab89c49d4ca41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6733c729644809" /><Relationship Type="http://schemas.openxmlformats.org/officeDocument/2006/relationships/notesMaster" Target="/ppt/notesMasters/notesMaster1.xml" Id="R693190adbe384f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6cf6fda1ab4340" /><Relationship Type="http://schemas.openxmlformats.org/officeDocument/2006/relationships/notesMaster" Target="/ppt/notesMasters/notesMaster1.xml" Id="Raec9f2808b8f42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3c27fcb4784457" /><Relationship Type="http://schemas.openxmlformats.org/officeDocument/2006/relationships/notesMaster" Target="/ppt/notesMasters/notesMaster1.xml" Id="Re87e703ca7d2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31e97a7ea847b4" /><Relationship Type="http://schemas.openxmlformats.org/officeDocument/2006/relationships/notesMaster" Target="/ppt/notesMasters/notesMaster1.xml" Id="Rc090ee6aaad24c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1ccba6851a46d5" /><Relationship Type="http://schemas.openxmlformats.org/officeDocument/2006/relationships/notesMaster" Target="/ppt/notesMasters/notesMaster1.xml" Id="R4080e7c3341e4f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4944e89ec74378" /><Relationship Type="http://schemas.openxmlformats.org/officeDocument/2006/relationships/notesMaster" Target="/ppt/notesMasters/notesMaster1.xml" Id="Rda4690916bbb4b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b8f67c1dd3449b" /><Relationship Type="http://schemas.openxmlformats.org/officeDocument/2006/relationships/notesMaster" Target="/ppt/notesMasters/notesMaster1.xml" Id="Rd27f3715595d4f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53ec82f9944208" /><Relationship Type="http://schemas.openxmlformats.org/officeDocument/2006/relationships/notesMaster" Target="/ppt/notesMasters/notesMaster1.xml" Id="Rdb506ff8289f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  <a:p xmlns:a="http://schemas.openxmlformats.org/drawingml/2006/main">
            <a:r>
              <a:t>Riwayat perjalanan diringkas dari konteks pengembangan yang diberikan oleh pembuat MIDETA.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  <a:p xmlns:a="http://schemas.openxmlformats.org/drawingml/2006/main">
            <a:r>
              <a:t>Tangkapan layar berasal dari aplikasi MIDETA milik pengguna.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dokumentasi internal dan implementasi MIDETA, kondisi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fe333711f4c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cd8f0ba8354c16" /><Relationship Type="http://schemas.openxmlformats.org/officeDocument/2006/relationships/slideLayout" Target="/ppt/slideLayouts/slideLayout1.xml" Id="R583933dbedad40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3933dbedad40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97f282a1a4428" /><Relationship Type="http://schemas.openxmlformats.org/officeDocument/2006/relationships/image" Target="/ppt/media/image.png" Id="R4c0d82981e944745" /><Relationship Type="http://schemas.openxmlformats.org/officeDocument/2006/relationships/notesSlide" Target="/ppt/notesSlides/notesSlide1.xml" Id="Ra34fcdc80c2a41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e77bb5fe248a9" /><Relationship Type="http://schemas.openxmlformats.org/officeDocument/2006/relationships/notesSlide" Target="/ppt/notesSlides/notesSlide2.xml" Id="R644e19a1a77f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823886bd94ce1" /><Relationship Type="http://schemas.openxmlformats.org/officeDocument/2006/relationships/image" Target="/ppt/media/image2.png" Id="R7be51f133a774d6c" /><Relationship Type="http://schemas.openxmlformats.org/officeDocument/2006/relationships/notesSlide" Target="/ppt/notesSlides/notesSlide3.xml" Id="Ra3c605b91f8b4a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06760f05544ed" /><Relationship Type="http://schemas.openxmlformats.org/officeDocument/2006/relationships/notesSlide" Target="/ppt/notesSlides/notesSlide4.xml" Id="Rf1b5ed3bccae49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9c43b094c4335" /><Relationship Type="http://schemas.openxmlformats.org/officeDocument/2006/relationships/notesSlide" Target="/ppt/notesSlides/notesSlide5.xml" Id="R4228ce8338764e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3d4183ee14aaa" /><Relationship Type="http://schemas.openxmlformats.org/officeDocument/2006/relationships/notesSlide" Target="/ppt/notesSlides/notesSlide6.xml" Id="R4d95486e34b149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6b2ad802b481e" /><Relationship Type="http://schemas.openxmlformats.org/officeDocument/2006/relationships/notesSlide" Target="/ppt/notesSlides/notesSlide7.xml" Id="R6d14ed2039ae4b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f61e1944941d8" /><Relationship Type="http://schemas.openxmlformats.org/officeDocument/2006/relationships/notesSlide" Target="/ppt/notesSlides/notesSlide8.xml" Id="R5ebe81ee44734e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a930b5a654f97" /><Relationship Type="http://schemas.openxmlformats.org/officeDocument/2006/relationships/notesSlide" Target="/ppt/notesSlides/notesSlide9.xml" Id="R8a5abc8e004d40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89566-3C7F-4341-8013-8BA0AD74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d82981e944745"/>
          <a:stretch xmlns:a="http://schemas.openxmlformats.org/drawingml/2006/main"/>
        </p:blipFill>
        <p:spPr>
          <a:xfrm xmlns:a="http://schemas.openxmlformats.org/drawingml/2006/main">
            <a:off x="8248650" y="1219200"/>
            <a:ext cx="2571750" cy="257175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5EAF2-3F07-4298-BF1C-0D0A25E6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4B8E6-1A7F-4E2F-9149-5812EC98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Brief produk dan perjalanan pengembangan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38EBB-5BEF-49AF-8672-C763B8F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657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 untuk merapikan data publik media sosial dan artikel menjadi hasil yang siap diperiksa dan diekspor.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0AEAC-63B1-436B-858D-F01E5CCE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3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033B5-C0F0-42B9-846C-7664AB5F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Perjalanan / Cara kerja / Manfaat / Batasan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640EB-6123-4D00-B09A-3EDCEE90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7646F-C486-41B9-BF28-7CAA6EED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83974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88291-F20B-4A92-96CC-5897658B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41DDC-7EFD-45EC-BB9E-6610F71D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67E28-C5C8-4ED3-98AF-6EFB7BE6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Perjalanan pengembangan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1D24A-CFA4-40DB-9161-0C038E61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7E97F-CE00-49B5-9A6F-5866933D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5457C-07CB-4F6E-BD5F-D5E381DF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C7C51-134E-47ED-AB18-CF12C157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FA2AC-1BA1-4987-A58D-F2353D7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MIDETA berkembang dari eksperimen notebook menjadi aplikasi lokal yang dapat dipakai berulang.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99131-1A21-450F-AF0B-7398EBAC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384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56B25-C453-455F-A552-EEA61CAD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D7FE7-7E13-4366-A21F-72AE811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95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21E95-B1A2-47AF-84E3-F73326BC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PROTOTIPE AWAL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F87D1-CBA9-4536-86AE-D1CF7D53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Google Colab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1CF32-A0AA-4A11-BE4F-13975AA6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Parser dan format data diuji cepat di notebook. Cocok untuk membuktikan ide dan mencoba beberapa URL.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55AD2-D0B1-41D4-B64A-460ACDFF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AE87F-DC1B-4E1D-897E-F649B322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95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89EA5-FD4E-42B1-923D-76F7568C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WORKFLOW MEMBESAR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68D3A-C793-454E-8C4C-997E94DF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Kebutuhan bertambah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1585F-AB7B-4F35-95DB-40394A46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4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Login browser, antrean panjang, riwayat proses, serta banyak platform mulai sulit dikelola dalam satu notebook.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03F74-6336-4EA2-A1AA-8DE0D842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0141A-1D58-4F5E-840D-59B40EFB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56E98-B5DA-48E2-8E3F-AE6E62CD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APLIKASI LOKAL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C314F-9932-4DF8-92CD-105187C1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6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VS Code + terminal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EF83F-8FA6-489B-9821-09A84C5D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4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Kode dipisah per modul, sesi Chrome dapat digunakan kembali, proses tersimpan, dan hasil dapat diunduh konsisten.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9B805-330B-4B6C-86B1-1F59DA5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Inti perubahan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7FC525-915A-408C-BDDF-B33D8AE6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435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Dari percobaan sekali jalan menjadi workflow operasional yang dapat diulang dan diperiksa.</a:t>
            </a:r>
          </a:p>
        </p:txBody>
      </p:sp>
    </p:spTree>
    <p:extLst>
      <p:ext uri="{BB962C8B-B14F-4D97-AF65-F5344CB8AC3E}">
        <p14:creationId xmlns:p14="http://schemas.microsoft.com/office/powerpoint/2010/main" val="436066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BAA1E-8395-4721-9AF7-5971EEC5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734F5-75A9-4CEF-A1E3-DE4B9407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013FE-E86A-48F5-A688-9DAED910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Mengapa beralih ke aplikasi lokal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7A423-860F-49D6-81D1-BCF6E87C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A3B70-6C19-469F-9D92-B80916F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67ED2-23BB-4B15-9345-D4401BBC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8A243-3640-43F1-B57E-C2646CE6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9352F-43E4-44B7-B194-DF8E374F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Kebutuhan utama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ABD7D-EDAF-43A8-AA07-E580D4D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F2C84-B089-47DF-8E90-C46D2E5E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E2A77-AD98-4D24-AA6F-D50D5124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2882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Sesi login yang dapat dipakai kembali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5FF44-F4EF-4F9F-B436-041A46F9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717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Browser profile lokal mengurangi kebutuhan login berulang.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0B204-F2AD-4A62-B11C-7CB1227E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F07D3-7CB9-4D32-914E-855A590A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1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60115-06C9-4A50-BDE3-5AB04BEF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Kode lebih mudah dirawat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747E8-29C4-4D71-A23A-01E72E95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385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Connector, antrean, ekspor, dan test berada di modul terpisah.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37E85-1268-4C6E-B5B9-224E2DCC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7AFCA-17F5-4699-8728-BC90E21F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5451A-14F2-4B0F-A2AB-26C901D7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6242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Proses panjang lebih terkendali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D7815-5B22-4A66-AE72-9559C3AD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053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23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Hasil dapat disimpan bertahap, dijeda, lalu dilanjutkan.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578AF-ACFA-4670-8AB9-3EB6BA1A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5734050" cy="3657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51f133a774d6c"/>
          <a:srcRect xmlns:a="http://schemas.openxmlformats.org/drawingml/2006/main" l="13000" t="6000" r="2000" b="7000"/>
          <a:stretch xmlns:a="http://schemas.openxmlformats.org/drawingml/2006/main"/>
        </p:blipFill>
        <p:spPr>
          <a:xfrm xmlns:a="http://schemas.openxmlformats.org/drawingml/2006/main">
            <a:off x="5962650" y="1733550"/>
            <a:ext cx="5429250" cy="33528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1886E-4589-4795-B0B1-88103C14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34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6E49F-3CFA-4B4B-8D7B-8DF8B584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Pertukaran utama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15D38-5B84-4B6E-891D-F50B7578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15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8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Kemudahan setup Colab ditukar dengan kontrol, stabilitas, dan kemampuan pemeliharaan yang lebih tinggi.</a:t>
            </a:r>
          </a:p>
        </p:txBody>
      </p:sp>
    </p:spTree>
    <p:extLst>
      <p:ext uri="{BB962C8B-B14F-4D97-AF65-F5344CB8AC3E}">
        <p14:creationId xmlns:p14="http://schemas.microsoft.com/office/powerpoint/2010/main" val="117321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D274F-9584-401E-A5BC-0AA930CE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CFCEE-BD84-41F8-A1A6-04932B29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64D0E-BA33-49E8-9D27-CD2E90BF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MIDETA saat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0C119-701E-4814-94A5-B4DEC613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F756A-C8D2-45B7-8AE5-E83EC7B6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F20CC-F949-4F0F-8C63-802AD93E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38F92-E03D-4273-85BE-0B92541B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4FF20-1B77-4AC2-A2DD-516BEC0B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Satu workspace lokal untuk empat pekerjaan utama.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0F085-B618-4F5A-99A8-BABD063B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0D99F-86E0-4066-A25E-E77E932F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384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8F411-F38A-40DE-AB63-06B5F7C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766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3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3F8C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56598-4D02-4E61-B7DD-010609EA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DC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B6C62-4541-460E-9BD4-B2505F99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14921-B84C-4BF4-BED3-0DE2326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5E567-B91B-40BE-A738-7A3E57AA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656DD-4E5F-4537-99B3-DFF08A32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Social Media Enrichment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59040-5782-4C29-B70E-4D5654EC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Metadata posting, engagement, followers, dan views yang tersedia.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F3D6A-074A-49BF-A5DA-D86783BA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950D4-E873-4F7F-8BC6-A2DF0790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Comment Scrapper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DA2E3-D91D-4ECB-8197-B54D369F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Komentar utama, reply, likes, dan jumlah balasan.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02C3A-17A9-4591-B377-25EB7883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FC290F-CCEC-41D2-AE1F-70C7F717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Conventional Media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CC5C4-26D8-41B0-A997-B31BFDF4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Artikel bersih, journalist, scope, tier, tone, dan quote mention.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09824-D29C-46EF-858C-CA212DE4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6C622-8F4D-49A7-B10F-55781E66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Riwayat Analisis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FED5B-E4CB-46D9-B632-77D793A3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815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Hasil lokal yang dapat dibuka kembali dan diunduh.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1C4BE-F265-40DC-82A3-27475BA7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YouTube   TikTok   Facebook   Instagram   Threads   X   Media online</a:t>
            </a:r>
          </a:p>
        </p:txBody>
      </p:sp>
    </p:spTree>
    <p:extLst>
      <p:ext uri="{BB962C8B-B14F-4D97-AF65-F5344CB8AC3E}">
        <p14:creationId xmlns:p14="http://schemas.microsoft.com/office/powerpoint/2010/main" val="387175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7DA3ED-2D9D-479D-A1E2-2FA2E188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4BABD-DFD8-491D-85E4-6AA1B3E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62B22-7049-4C43-8675-228B2D4E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Alur kerja utama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E93B7-A309-4ADF-B705-BBF209D0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0F394-71E0-4124-BD61-0D3FD908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07D8B-563E-4B62-B2F5-38CEE6BC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DFFB3-36D0-4E93-9B7B-403B80B4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1345B-493B-4FD1-8D10-83844193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Setiap URL tetap memiliki satu baris hasil agar data mudah dicocokkan kembali.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A340B-00A9-41E8-B77C-021BD414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48DF4-C724-4F2D-96AF-B70FD2C9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1E4DD-0ACC-4D80-9206-769BDFC2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83215-AA39-481E-8FC9-87C7C807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Masukkan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2B499-E960-45E5-84C6-88D6A6ED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Satu URL per baris, termasuk short link.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4BD27-E80C-4646-844F-B1A0C1E8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7EABB-E613-4099-9FF9-FCDDF23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B5C1A-7436-415F-84AC-C3DC43C8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Kenali sumber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6A193-0CFB-4DA0-8E7A-82F5AF8A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Platform dan format tautan diperiksa.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AA5AE-BF27-4CFE-8B4E-D6DAB3E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2F1B8-D5B7-4C3A-A06D-7E3E1C54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D0292-BB30-4395-B8F1-191A3BCA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Ambil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5023E-1AD1-4A2F-A2EA-3A80850E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Sumber publik atau sesi login digunakan.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6BE68-8A57-4690-8120-00808558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E76B0-54A0-4E8C-8CDB-912D1474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B76AB-F366-4577-BBA4-3059D7DD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Rapikan hasil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D576E-C34B-45F9-847C-02FB9DD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Field dinormalisasi tanpa mengubah urutan.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B5ECB-CCF0-42DE-9B20-B07AB54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7A832-937C-41DE-BE49-9706028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14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E0779-6A07-4EB1-801E-EC8ACFBD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81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Review &amp; ekspor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ABDD68-2522-47D5-ACF0-83B85888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290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Status diperiksa lalu diunduh ke CSV/XLSX.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44EEE-0AC7-4361-BF1E-C75EAE78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24450"/>
            <a:ext cx="9677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87C3B9-250A-4F92-93D5-824BBA3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14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2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25D"/>
                </a:solidFill>
                <a:latin typeface="Helvetica Neue"/>
                <a:ea typeface="Helvetica Neue"/>
                <a:cs typeface="Helvetica Neue"/>
              </a:rPr>
              <a:t>URL gagal tetap dipertahankan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08C56-99CE-4F17-A842-20F6CF66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673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9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Baris tidak dihapus. MIDETA menuliskan status error sehingga posisi keluaran tetap sama dengan input.</a:t>
            </a:r>
          </a:p>
        </p:txBody>
      </p:sp>
    </p:spTree>
    <p:extLst>
      <p:ext uri="{BB962C8B-B14F-4D97-AF65-F5344CB8AC3E}">
        <p14:creationId xmlns:p14="http://schemas.microsoft.com/office/powerpoint/2010/main" val="1439755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1923B9-E8A9-4ACB-96A0-9E6E3703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41D0C-DDB0-46C7-BBDB-20FFE76C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0F85F-C756-4CBF-86E4-08C0462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Cakupan dan hasil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B03AB-B084-4AB2-8A02-14C1BE35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63A4C-CEBC-4783-87DD-715930DA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5823F-5ED0-4673-909F-F8C8232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0115A-3D77-4EC7-9BA1-5CA50F8B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2B618-6B22-4266-B744-EBD311C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Kapasitas proses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D535A-1C5C-4A71-BC6D-2A848366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BAE0A-58E2-47E3-8D86-04097C5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5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URL per antrean enrichment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AC6FA-A800-435A-BB21-D90ECBF9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05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2.000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A5035-22FD-473E-ACE5-9235502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4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komentar maksimal per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5984F-F9BC-4152-924F-D6D4874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05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E91A8-BDC7-4349-AEDF-AE6E3153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00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9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artikel publik diproses paralel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483FF-0322-45AB-B4BD-860D434A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Platform sosial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35B5B-8DD0-49C8-9217-DC84718D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YouTube   TikTok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Facebook   Instagram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Threads   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CFBC3-A3E0-4EEC-9618-8C5A5852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A9FC0-6DBA-41F7-851B-CEB00611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C9C66-9CA0-4503-893D-A6EE806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Tanggal, author, caption, followers, views, likes, comments, bookmark, shares, dan repost.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4F277-561F-41BB-9EFE-FBD52F79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3F8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FAAC8-5C33-43A7-B1A4-FEED2E2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KOMENTAR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E153B-EC4D-4139-959A-FE945910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Tanggal, username, tipe parent/reply, isi komentar, likes, dan jumlah reply.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01B3E-BBD6-4EA3-82E9-0F9457F8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720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414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76CF6-A8D0-43AA-B807-BA58E0DF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ARTIKEL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9C5AB-D797-4319-8CB9-3B1302CD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Tanggal, media, scope, tier, judul, isi bersih, journalist, tone, dan quote mention.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E5F1DC-CA4E-4460-B69D-6EF48ABD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720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3F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4409C-3924-4B28-958A-2BF15794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Format keluaran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B9CFE-344E-4100-B99E-9A505481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86400"/>
            <a:ext cx="909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CSV untuk data teks, XLSX dengan format tabel, dan riwayat lokal untuk membuka hasil sebelumnya</a:t>
            </a:r>
          </a:p>
        </p:txBody>
      </p:sp>
    </p:spTree>
    <p:extLst>
      <p:ext uri="{BB962C8B-B14F-4D97-AF65-F5344CB8AC3E}">
        <p14:creationId xmlns:p14="http://schemas.microsoft.com/office/powerpoint/2010/main" val="1107568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04D06-3FD9-4357-9693-2ABBEA65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5526F-EC7F-4879-A52A-E49552A1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D876B-9606-4AFB-8608-EEBA547F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Google Colab dan VS Code lokal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238C6-41AB-4344-8D66-479CB0E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74C1B-6BF4-419C-8B47-80BC265C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92B4E-F7D9-4B66-B2D6-58EE155C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76568-8B7F-4C14-89E2-91BDBD56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4EFA0-14B0-4352-9DCB-C16764DB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Perpindahan platform membawa manfaat operasional sekaligus tanggung jawab pemeliharaan baru.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Aspek</a:t>
                      </a:r>
                    </a:p>
                  </a:txBody>
                  <a:tcPr marL="114300" marR="114300" marT="85725" marB="85725">
                    <a:solidFill>
                      <a:srgbClr val="1715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Google Colab</a:t>
                      </a:r>
                    </a:p>
                  </a:txBody>
                  <a:tcPr marL="114300" marR="114300" marT="85725" marB="85725">
                    <a:solidFill>
                      <a:srgbClr val="1715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VS Code + terminal</a:t>
                      </a:r>
                    </a:p>
                  </a:txBody>
                  <a:tcPr marL="114300" marR="114300" marT="85725" marB="85725">
                    <a:solidFill>
                      <a:srgbClr val="17151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Memulai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Cepat dicoba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Setup ulang ketika runtime berubah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Lingkungan dapat digunakan kembali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Perlu instalasi awal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Sesi browser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Cocok untuk akses publik sederhana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Login dan browser profile terbatas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Sesi Chrome dapat dipakai kembali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Bergantung pada perangkat lokal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Proses panjang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Mudah menjalankan eksperimen kecil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Runtime dapat terputus atau reset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Antrean dan riwayat dapat dilanjutkan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Komputer harus tetap aktif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Pemeliharaan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Satu notebook mudah dibagikan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Cepat menjadi panjang dan rapuh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Modul, test, dan Git lebih rapi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Perubahan perlu diuji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14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Penggunaan tim</a:t>
                      </a:r>
                    </a:p>
                  </a:txBody>
                  <a:tcPr marL="114300" marR="95250" marT="76200" marB="76200"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Tautan notebook mudah dibuka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Hasil bergantung pada runtime pengguna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Workflow lebih konsisten</a:t>
                      </a:r>
                    </a:p>
                    <a:p>
                      <a:r>
                        <a:rPr sz="1200" b="0">
                          <a:solidFill>
                            <a:srgbClr val="1715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 Distribusi membutuhkan setup atau hosting</a:t>
                      </a:r>
                    </a:p>
                  </a:txBody>
                  <a:tcPr marL="13335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406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2FC9A6-1AED-4638-BD3D-81A8FB6D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4FABB-2128-4963-A2A1-8B746294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B8110-88C4-4B2A-9A92-FFED2AC5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Batasan MIDETA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A5D61-80DB-4B00-A221-DDFDC694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00CA1-AA1B-497B-9412-B63FB517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3471E-15AC-4CFD-83F1-6812FE2C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7DCDF-D23D-448C-A381-32AA099E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0FC6A-D28E-4B94-80F1-3AA7CFA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E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A0382-49AB-4F24-A741-8A22F3D3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Batasan paling penting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6E6F-DFC2-4E3D-9D31-855F56BC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192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Jika platform mengubah struktur posting, connector dapat berhenti membaca data sampai kodenya diperbarui.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25538-2530-4664-8A7B-4FED38E2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F0BB4-373E-43CA-AC37-2880E607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Perubahan tampilan dan struktur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C5009-102F-4CAD-9D30-9B7FCBFF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MIDETA bergantung pada HTML, data JSON, label, dan pola halaman yang ditampilkan platform.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D73CA-F7A5-40B5-BB2D-15026546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FC2DA-011C-49B0-B029-C86B3783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Akses terbatas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15AA0-D618-4AD2-8E46-34A29BB8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Posting privat, artikel terhapus, paywall, batas usia atau wilayah dapat menghasilkan Tidak tersedia.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F1FF9-9DC0-4D93-9A3B-6702E0C6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3772A-7B66-4AC8-926B-73DB354C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Proteksi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1A229-BB56-468F-B6BF-D451698F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CAPTCHA, rate limit, temporary block, atau sesi kedaluwarsa dapat menghentikan proses.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98EF1-4FDC-417A-8FEE-8CFDE1EF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8BC12-CF04-486D-B526-63644D3E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Kelengkapan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0E15D-ACAE-4116-94E9-B8C45D89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Tidak semua platform menampilkan views, followers, bookmark, share, atau seluruh komentar.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77841-F4EF-46A6-A27A-5AFC932B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E2A2E-6F06-4EE7-AB49-2E7315E6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Komentar tersembunyi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3AED5-43F9-42BA-840A-CB0DB35C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Komentar yang difilter, dihapus, atau tidak dimuat oleh platform tidak dapat dikumpulkan.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C5A8A-5CDB-497A-A9F6-5DA22CF2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C94B5-3579-43D3-A38C-AD95434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Data bersifat snapshot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C40D1-73C2-40E6-9888-71484955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1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Angka engagement dapat berubah setelah proses selesai dan perlu diperbarui jika dipakai kembali.</a:t>
            </a:r>
          </a:p>
        </p:txBody>
      </p:sp>
    </p:spTree>
    <p:extLst>
      <p:ext uri="{BB962C8B-B14F-4D97-AF65-F5344CB8AC3E}">
        <p14:creationId xmlns:p14="http://schemas.microsoft.com/office/powerpoint/2010/main" val="19877636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9C9507-E949-4368-9E84-C7627937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7DB09-D7A3-46BC-956B-0420FC62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MIDETA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DBD6C-1796-49E7-831E-C9EAA9CB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Penggunaan hasil dan prioritas pengembangan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E352A-7D65-43F5-84CF-7FCD78D3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E5F25-395B-44E2-BEF3-8BA5DF22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9689E-D948-4E49-8843-66CD0F1F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Hawarisma Rafanidya Singgih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14D99-583A-4A82-A3E5-09024F1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874"/>
                </a:solidFill>
                <a:latin typeface="Helvetica Neue"/>
                <a:ea typeface="Helvetica Neue"/>
                <a:cs typeface="Helvetica Neue"/>
              </a:rPr>
              <a:t>Media Intelligence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19221-1F22-45CC-9168-09B87DD6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Posisi MIDETA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45339-30D5-4F85-A246-49851CAD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03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Alat bantu pengumpulan dan perapihan data, bukan satu-satunya sumber kebenaran.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11249-60E1-478D-9CB2-44DBBFF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04950"/>
            <a:ext cx="3676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23F3D-F5D1-41D7-9AFA-23C8CBAF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049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Prinsip pemeriksaan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92965-E3D8-4CB9-B2ED-BDDBA14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Tinjau sampel hasil sebelum data digunakan untuk laporan atau keputusan.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1E8C7-7291-4D21-A227-C1FB866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4CD54-10D0-4512-84CD-F002A3FC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Saat menggunakan hasil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5C86A-B8F3-4F3C-87BA-F33CA9D2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DD486-09D7-4F40-BB78-7BFE4AED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95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43DD4-7798-4AE4-8AEA-80B9D4FA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433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Periksa baris bertanda Tidak tersedia, URL tidak dapat diproses, atau [CHECK].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612EE-960C-4DC3-B7B6-56A66A86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964A0-F1F9-4F17-A100-A07B0B0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22058-C17D-4C07-91C7-771A83D8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Bandingkan beberapa URL secara manual untuk memastikan format platform belum berubah.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233E6-D375-4280-B31E-D2BD011B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2E41D-0695-45AF-98FC-5556E966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53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A5A9D-ED0A-4770-B5A6-1EF6FE6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768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Simpan tanggal pengambilan karena engagement merupakan snapshot.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8D23E-BC48-4730-94A8-E4AC4C23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Prioritas pengembangan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6F5D9-0472-4D8D-8733-DB3165DE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52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6EFD0-C5C9-4FCE-883C-06D8663C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195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19583-B3C0-4C81-ACFE-D64C3430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43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Pantau perubahan struktur tiap platform dan simpan contoh halaman untuk regression test.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89FDC-5E2E-415D-8BEF-27DDA2F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97268-06B8-4541-AA81-07C703A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86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826CCA-2AF0-4090-891B-D44DAB73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100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Pisahkan parser per platform agar perbaikan tidak merusak connector lain.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26782-B355-4FE9-8E7E-67F4A7CD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86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1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43099E-55E5-4DF4-80A5-C1DE811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153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402CEE-D514-4358-88F6-C71D221E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768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51B"/>
                </a:solidFill>
                <a:latin typeface="Helvetica Neue"/>
                <a:ea typeface="Helvetica Neue"/>
                <a:cs typeface="Helvetica Neue"/>
              </a:rPr>
              <a:t>Tampilkan alasan gagal yang spesifik agar pengguna tahu kapan perlu retry atau update parser.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20F5AF-6DBA-4058-838B-A201540A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3F8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00D41C-9515-4B62-A5E8-1E063246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145A"/>
                </a:solidFill>
                <a:latin typeface="Helvetica Neue"/>
                <a:ea typeface="Helvetica Neue"/>
                <a:cs typeface="Helvetica Neue"/>
              </a:rPr>
              <a:t>Keandalan MIDETA bergantung pada pemantauan platform dan pembaruan connector secara rutin.</a:t>
            </a:r>
          </a:p>
        </p:txBody>
      </p:sp>
    </p:spTree>
    <p:extLst>
      <p:ext uri="{BB962C8B-B14F-4D97-AF65-F5344CB8AC3E}">
        <p14:creationId xmlns:p14="http://schemas.microsoft.com/office/powerpoint/2010/main" val="1102074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2026-09-23T12:33:53.8180000Z</dcterms:created>
  <dcterms:modified xsi:type="dcterms:W3CDTF">2026-09-23T12:33:53.8180000Z</dcterms:modified>
</coreProperties>
</file>