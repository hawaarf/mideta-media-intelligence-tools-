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21fdef05a18457e" /><Relationship Type="http://schemas.openxmlformats.org/officeDocument/2006/relationships/extended-properties" Target="/docProps/app.xml" Id="Ra261d29dd1764917" /><Relationship Type="http://schemas.openxmlformats.org/officeDocument/2006/relationships/officeDocument" Target="/ppt/presentation.xml" Id="Rc37901ec3db1429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76a93b4fabc4dfd"/>
  </p:sldMasterIdLst>
  <p:notesMasterIdLst>
    <p:notesMasterId xmlns:r="http://schemas.openxmlformats.org/officeDocument/2006/relationships" r:id="R219aa55632c743f7"/>
  </p:notesMasterIdLst>
  <p:sldIdLst>
    <p:sldId xmlns:r="http://schemas.openxmlformats.org/officeDocument/2006/relationships" id="256" r:id="R7ec35441e45e4277"/>
    <p:sldId xmlns:r="http://schemas.openxmlformats.org/officeDocument/2006/relationships" id="257" r:id="R649abc14836b4160"/>
    <p:sldId xmlns:r="http://schemas.openxmlformats.org/officeDocument/2006/relationships" id="258" r:id="R9272167555424173"/>
    <p:sldId xmlns:r="http://schemas.openxmlformats.org/officeDocument/2006/relationships" id="259" r:id="R6f9a56e411d34c49"/>
    <p:sldId xmlns:r="http://schemas.openxmlformats.org/officeDocument/2006/relationships" id="260" r:id="R5e8859c0634f4fbe"/>
    <p:sldId xmlns:r="http://schemas.openxmlformats.org/officeDocument/2006/relationships" id="261" r:id="Rf11e212109334151"/>
    <p:sldId xmlns:r="http://schemas.openxmlformats.org/officeDocument/2006/relationships" id="262" r:id="Rd8bf0a64881a40ae"/>
    <p:sldId xmlns:r="http://schemas.openxmlformats.org/officeDocument/2006/relationships" id="263" r:id="Rb064a2d4428548e8"/>
    <p:sldId xmlns:r="http://schemas.openxmlformats.org/officeDocument/2006/relationships" id="264" r:id="R93d44dcd01df4cd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6ebb16936ce4c3f" /><Relationship Type="http://schemas.openxmlformats.org/officeDocument/2006/relationships/slideMaster" Target="/ppt/slideMasters/slideMaster1.xml" Id="Re76a93b4fabc4dfd" /><Relationship Type="http://schemas.openxmlformats.org/officeDocument/2006/relationships/notesMaster" Target="/ppt/notesMasters/notesMaster1.xml" Id="R219aa55632c743f7" /><Relationship Type="http://schemas.openxmlformats.org/officeDocument/2006/relationships/presProps" Target="/ppt/presProps.xml" Id="Rb63be0e963ad487e" /><Relationship Type="http://schemas.openxmlformats.org/officeDocument/2006/relationships/tableStyles" Target="/ppt/tableStyles.xml" Id="Rf2ede58f51c14187" /><Relationship Type="http://schemas.openxmlformats.org/officeDocument/2006/relationships/slide" Target="/ppt/slides/slide1.xml" Id="R7ec35441e45e4277" /><Relationship Type="http://schemas.openxmlformats.org/officeDocument/2006/relationships/slide" Target="/ppt/slides/slide2.xml" Id="R649abc14836b4160" /><Relationship Type="http://schemas.openxmlformats.org/officeDocument/2006/relationships/slide" Target="/ppt/slides/slide3.xml" Id="R9272167555424173" /><Relationship Type="http://schemas.openxmlformats.org/officeDocument/2006/relationships/slide" Target="/ppt/slides/slide4.xml" Id="R6f9a56e411d34c49" /><Relationship Type="http://schemas.openxmlformats.org/officeDocument/2006/relationships/slide" Target="/ppt/slides/slide5.xml" Id="R5e8859c0634f4fbe" /><Relationship Type="http://schemas.openxmlformats.org/officeDocument/2006/relationships/slide" Target="/ppt/slides/slide6.xml" Id="Rf11e212109334151" /><Relationship Type="http://schemas.openxmlformats.org/officeDocument/2006/relationships/slide" Target="/ppt/slides/slide7.xml" Id="Rd8bf0a64881a40ae" /><Relationship Type="http://schemas.openxmlformats.org/officeDocument/2006/relationships/slide" Target="/ppt/slides/slide8.xml" Id="Rb064a2d4428548e8" /><Relationship Type="http://schemas.openxmlformats.org/officeDocument/2006/relationships/slide" Target="/ppt/slides/slide9.xml" Id="R93d44dcd01df4cd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001a7ee57ff48a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a7bcdf823634db5" /><Relationship Type="http://schemas.openxmlformats.org/officeDocument/2006/relationships/notesMaster" Target="/ppt/notesMasters/notesMaster1.xml" Id="Racedcdd3fb6344a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59530c6e0134829" /><Relationship Type="http://schemas.openxmlformats.org/officeDocument/2006/relationships/notesMaster" Target="/ppt/notesMasters/notesMaster1.xml" Id="R341e3afc661c4ec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04aa3ca2f8c4e20" /><Relationship Type="http://schemas.openxmlformats.org/officeDocument/2006/relationships/notesMaster" Target="/ppt/notesMasters/notesMaster1.xml" Id="R1505e308c1fb4f1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2b2390f949941a9" /><Relationship Type="http://schemas.openxmlformats.org/officeDocument/2006/relationships/notesMaster" Target="/ppt/notesMasters/notesMaster1.xml" Id="Rf5253e6a7f624af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05757c55bf54dc8" /><Relationship Type="http://schemas.openxmlformats.org/officeDocument/2006/relationships/notesMaster" Target="/ppt/notesMasters/notesMaster1.xml" Id="R1aef9168256f473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367abf510e34043" /><Relationship Type="http://schemas.openxmlformats.org/officeDocument/2006/relationships/notesMaster" Target="/ppt/notesMasters/notesMaster1.xml" Id="Rb7bee4f55d7e40e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fab97526e1d4ece" /><Relationship Type="http://schemas.openxmlformats.org/officeDocument/2006/relationships/notesMaster" Target="/ppt/notesMasters/notesMaster1.xml" Id="R3bab2a9f0ee74c7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a2092fd638d4734" /><Relationship Type="http://schemas.openxmlformats.org/officeDocument/2006/relationships/notesMaster" Target="/ppt/notesMasters/notesMaster1.xml" Id="Rcfb6f708b52d4dc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7763674bbc74d5b" /><Relationship Type="http://schemas.openxmlformats.org/officeDocument/2006/relationships/notesMaster" Target="/ppt/notesMasters/notesMaster1.xml" Id="Rcb54f494918945e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Sumber: dokumentasi internal dan implementasi MIDETA, kondisi 23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Sumber: dokumentasi internal dan implementasi MIDETA, kondisi 23 September 2026.</a:t>
            </a:r>
          </a:p>
          <a:p xmlns:a="http://schemas.openxmlformats.org/drawingml/2006/main">
            <a:r>
              <a:t>Riwayat perjalanan diringkas dari konteks pengembangan yang diberikan oleh pembuat MIDETA.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Sumber: dokumentasi internal dan implementasi MIDETA, kondisi 23 September 2026.</a:t>
            </a:r>
          </a:p>
          <a:p xmlns:a="http://schemas.openxmlformats.org/drawingml/2006/main">
            <a:r>
              <a:t>Tangkapan layar berasal dari aplikasi MIDETA milik pengguna.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Sumber: dokumentasi internal dan implementasi MIDETA, kondisi 23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Sumber: dokumentasi internal dan implementasi MIDETA, kondisi 23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Sumber: dokumentasi internal dan implementasi MIDETA, kondisi 23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Sumber: dokumentasi internal dan implementasi MIDETA, kondisi 23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Sumber: dokumentasi internal dan implementasi MIDETA, kondisi 23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Sumber: dokumentasi internal dan implementasi MIDETA, kondisi 23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d8651e52c6420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acf4ef3509d4ff3" /><Relationship Type="http://schemas.openxmlformats.org/officeDocument/2006/relationships/slideLayout" Target="/ppt/slideLayouts/slideLayout1.xml" Id="R1f502a2c226f4d7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f502a2c226f4d7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0a9c4daf7945ee" /><Relationship Type="http://schemas.openxmlformats.org/officeDocument/2006/relationships/image" Target="/ppt/media/image.png" Id="R42439e50a4b3427c" /><Relationship Type="http://schemas.openxmlformats.org/officeDocument/2006/relationships/notesSlide" Target="/ppt/notesSlides/notesSlide1.xml" Id="R587834ba1040400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4c9f7f8d7b4bad" /><Relationship Type="http://schemas.openxmlformats.org/officeDocument/2006/relationships/notesSlide" Target="/ppt/notesSlides/notesSlide2.xml" Id="R97aa90c0d06d4f8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c7016d41fc4cd6" /><Relationship Type="http://schemas.openxmlformats.org/officeDocument/2006/relationships/image" Target="/ppt/media/image2.png" Id="Rbdd03b2e34cb492c" /><Relationship Type="http://schemas.openxmlformats.org/officeDocument/2006/relationships/notesSlide" Target="/ppt/notesSlides/notesSlide3.xml" Id="Re3e3f95d13d1499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768648b9214b6f" /><Relationship Type="http://schemas.openxmlformats.org/officeDocument/2006/relationships/notesSlide" Target="/ppt/notesSlides/notesSlide4.xml" Id="R7120c5c7b5a24b1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e09b4b73bb4e04" /><Relationship Type="http://schemas.openxmlformats.org/officeDocument/2006/relationships/notesSlide" Target="/ppt/notesSlides/notesSlide5.xml" Id="Ra859c3a006ad45c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9dadd8cc764d67" /><Relationship Type="http://schemas.openxmlformats.org/officeDocument/2006/relationships/notesSlide" Target="/ppt/notesSlides/notesSlide6.xml" Id="R965b84d048d5457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a67969a9f34102" /><Relationship Type="http://schemas.openxmlformats.org/officeDocument/2006/relationships/notesSlide" Target="/ppt/notesSlides/notesSlide7.xml" Id="Rccf9aed26c34410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ef912d33d34d62" /><Relationship Type="http://schemas.openxmlformats.org/officeDocument/2006/relationships/notesSlide" Target="/ppt/notesSlides/notesSlide8.xml" Id="R5a64745de2f64e1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7f4af9d1c048bd" /><Relationship Type="http://schemas.openxmlformats.org/officeDocument/2006/relationships/notesSlide" Target="/ppt/notesSlides/notesSlide9.xml" Id="Rd6c9fa3f154a4df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CB8313-B1C2-4385-84DE-7617D7675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F8C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439e50a4b3427c"/>
          <a:stretch xmlns:a="http://schemas.openxmlformats.org/drawingml/2006/main"/>
        </p:blipFill>
        <p:spPr>
          <a:xfrm xmlns:a="http://schemas.openxmlformats.org/drawingml/2006/main">
            <a:off x="8248650" y="1219200"/>
            <a:ext cx="2571750" cy="2571750"/>
          </a:xfrm>
          <a:prstGeom xmlns:a="http://schemas.openxmlformats.org/drawingml/2006/main" prst="roundRect">
            <a:avLst>
              <a:gd name="adj" fmla="val 8889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1D13EC-1F2F-4D95-8CAA-40C2A1326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43000"/>
            <a:ext cx="666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529"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rPr>
              <a:t>MIDETA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05C9C8-AD42-4BF0-87A4-390913E47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676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414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B4145A"/>
                </a:solidFill>
                <a:latin typeface="Helvetica Neue"/>
                <a:ea typeface="Helvetica Neue"/>
                <a:cs typeface="Helvetica Neue"/>
              </a:rPr>
              <a:t>Brief produk dan perjalanan pengembangan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2C43A4-7AC6-4D4D-B1BF-E6DCB8286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6572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rPr>
              <a:t>Media Intelligence Tools untuk merapikan data publik media sosial dan artikel menjadi hasil yang siap diperiksa dan diekspor.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1B77F6-7B0E-498F-83CC-A7D7D4807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38625"/>
            <a:ext cx="619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43F8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3851D4-E4DD-418D-8A04-DE6253C06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5770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rPr>
              <a:t>Perjalanan • Cara kerja • Manfaat • Batasan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544579-4A2D-41C3-B840-F25724D0D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245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rPr>
              <a:t>Hawarisma Rafanidya Singgih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C2365D-CAF4-43F8-A2A8-1FB5E7B16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3887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rPr>
              <a:t>September 2026</a:t>
            </a:r>
          </a:p>
        </p:txBody>
      </p:sp>
    </p:spTree>
    <p:extLst>
      <p:ext uri="{BB962C8B-B14F-4D97-AF65-F5344CB8AC3E}">
        <p14:creationId xmlns:p14="http://schemas.microsoft.com/office/powerpoint/2010/main" val="3995152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2A55C0-876D-47F0-AF08-AC9A473DA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14B32C-564D-431B-82B8-2D844BCDD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14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4145A"/>
                </a:solidFill>
                <a:latin typeface="Helvetica Neue"/>
                <a:ea typeface="Helvetica Neue"/>
                <a:cs typeface="Helvetica Neue"/>
              </a:rPr>
              <a:t>MIDETA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1A02E5-7634-4E35-BB28-5A0842F49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rPr>
              <a:t>Perjalanan pengembangan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599699-B294-4CB6-8EE8-A9DE519EA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DC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9A5C46-7538-44A3-A964-FAC9CCB10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3810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F68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F6874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B1EEC0-384E-4307-A414-DE1CAAF2D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rPr>
              <a:t>Hawarisma Rafanidya Singgih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8080D2-F2C1-4D74-A2B4-12DD3B45C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553200"/>
            <a:ext cx="2533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rPr>
              <a:t>Media Intelligence Tools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D323AA-0B11-417F-BC97-1EDFB1AC9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rPr>
              <a:t>MIDETA berkembang dari eksperimen notebook menjadi aplikasi lokal yang dapat dipakai berulang.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1E5E7D-997E-45BB-A105-233387CF8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38475"/>
            <a:ext cx="933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E7DC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DEE6BF-1CA0-4588-9C5F-3751E11B3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28289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3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F90F41-6147-4222-A664-F91BCF457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8956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D54A7C-3537-4A03-8946-0D0B9E871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414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B4145A"/>
                </a:solidFill>
                <a:latin typeface="Helvetica Neue"/>
                <a:ea typeface="Helvetica Neue"/>
                <a:cs typeface="Helvetica Neue"/>
              </a:rPr>
              <a:t>PROTOTIPE AWAL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5CA04F-CF45-414E-8700-49719A570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76625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rPr>
              <a:t>Google Colab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8D05AB-F55E-4774-8848-02E7B786F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81450"/>
            <a:ext cx="2476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rPr>
              <a:t>Parser dan format data diuji cepat di notebook. Cocok untuk membuktikan ide dan mencoba beberapa URL.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2C1CA1-86C4-4B94-8CC3-2EB6DB618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8289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3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88C765-A1FE-41E0-9937-43F120291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8956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5864F9-2685-4090-9AFF-DE850D501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955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414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B4145A"/>
                </a:solidFill>
                <a:latin typeface="Helvetica Neue"/>
                <a:ea typeface="Helvetica Neue"/>
                <a:cs typeface="Helvetica Neue"/>
              </a:rPr>
              <a:t>WORKFLOW MEMBESAR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765F75-D64B-4702-B8BF-71344922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476625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rPr>
              <a:t>Kebutuhan bertambah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2C2040-6D88-4CFD-8396-0A83ECD7D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981450"/>
            <a:ext cx="2476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842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rPr>
              <a:t>Login browser, antrean panjang, riwayat proses, serta banyak platform mulai sulit dikelola dalam satu notebook.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C5758D-0C3F-4EC7-AEF1-095548E4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8289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3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EA7C2A-6832-48E0-93C5-0BC20E8E5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8956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530065-4DDC-4F0D-BB32-02C33AF57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0955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414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B4145A"/>
                </a:solidFill>
                <a:latin typeface="Helvetica Neue"/>
                <a:ea typeface="Helvetica Neue"/>
                <a:cs typeface="Helvetica Neue"/>
              </a:rPr>
              <a:t>APLIKASI LOKAL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C8384F-1E69-486E-9C68-D1A2E59A9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476625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rPr>
              <a:t>VS Code + terminal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DCE32C-2722-462A-BF4D-9E24C830D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81450"/>
            <a:ext cx="2476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842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rPr>
              <a:t>Kode dipisah per modul, sesi Chrome dapat digunakan kembali, proses tersimpan, dan hasil dapat diunduh konsisten.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22F2C9-6F4B-44AA-A950-0F8E7C882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14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B4145A"/>
                </a:solidFill>
                <a:latin typeface="Helvetica Neue"/>
                <a:ea typeface="Helvetica Neue"/>
                <a:cs typeface="Helvetica Neue"/>
              </a:rPr>
              <a:t>Inti perubahan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A257A0-BD54-4367-9FC9-5CC3E7C67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54355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rPr>
              <a:t>Dari percobaan sekali jalan menjadi workflow operasional yang dapat diulang dan diperiksa.</a:t>
            </a:r>
          </a:p>
        </p:txBody>
      </p:sp>
    </p:spTree>
    <p:extLst>
      <p:ext uri="{BB962C8B-B14F-4D97-AF65-F5344CB8AC3E}">
        <p14:creationId xmlns:p14="http://schemas.microsoft.com/office/powerpoint/2010/main" val="17077859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5A6BC7-C38C-43E2-A074-8B3DC4D1C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0AEB65-9CD5-4C71-901F-BA387ED6B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14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4145A"/>
                </a:solidFill>
                <a:latin typeface="Helvetica Neue"/>
                <a:ea typeface="Helvetica Neue"/>
                <a:cs typeface="Helvetica Neue"/>
              </a:rPr>
              <a:t>MIDETA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9D268D-3230-415F-850C-308738A1D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rPr>
              <a:t>Mengapa beralih ke aplikasi lokal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29C5EA-CD20-46AD-9A38-4963C3BAF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DC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D097C9-019B-47D1-9199-0E402E7BD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3810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F68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F6874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321CDD-A588-49FA-8B0F-46C1F80FF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rPr>
              <a:t>Hawarisma Rafanidya Singgih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2A9B42-3C86-47C1-BD04-0A53FDB4D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553200"/>
            <a:ext cx="2533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rPr>
              <a:t>Media Intelligence Tools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75912F-C410-4DAC-A8E8-6D741D1C5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414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B4145A"/>
                </a:solidFill>
                <a:latin typeface="Helvetica Neue"/>
                <a:ea typeface="Helvetica Neue"/>
                <a:cs typeface="Helvetica Neue"/>
              </a:rPr>
              <a:t>Kebutuhan utama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91B1D3-C98A-41DB-8B54-1AE50618D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3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3053E2-D2D0-4A79-8EF2-DCDCFED49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145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935023-7B8E-4FEF-AD06-DBA3A0525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028825"/>
            <a:ext cx="414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rPr>
              <a:t>Sesi login yang dapat dipakai kembali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B4F1BB-CDC8-485F-BBB0-AC6C0B11D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371725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rPr>
              <a:t>Browser profile lokal mengurangi kebutuhan login berulang.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8E4306-CF60-4DD0-9489-D6DBC0D81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14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328EBE-0A1A-4845-9306-30D3099C1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813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3200EA-5CF7-4A58-A87A-08A3E15A2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95625"/>
            <a:ext cx="414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rPr>
              <a:t>Kode lebih mudah dirawat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671BB9-A13E-41DD-9B93-AC45902C4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38525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rPr>
              <a:t>Connector, antrean, ekspor, dan test berada di modul terpisah.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60F1EA-275F-444B-B78B-F6FA1890F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14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3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4BD2E6-58EF-4FBD-A115-252F05DBB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481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4C0286-A696-424A-BD21-700ED3E62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62425"/>
            <a:ext cx="414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rPr>
              <a:t>Proses panjang lebih terkendali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E2C67E-C51A-4CFA-A5DD-20198E851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505325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9232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rPr>
              <a:t>Hasil dapat disimpan bertahap, dijeda, lalu dilanjutkan.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34DD14-37C9-4472-9735-0FD749296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81150"/>
            <a:ext cx="5734050" cy="36576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0F6"/>
          </a:solidFill>
          <a:ln xmlns:a="http://schemas.openxmlformats.org/drawingml/2006/main" w="9525">
            <a:solidFill>
              <a:srgbClr val="E7DCE3"/>
            </a:solidFill>
            <a:prstDash val="solid"/>
          </a:ln>
        </p:spPr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d03b2e34cb492c"/>
          <a:srcRect xmlns:a="http://schemas.openxmlformats.org/drawingml/2006/main" l="13000" t="6000" r="2000" b="7000"/>
          <a:stretch xmlns:a="http://schemas.openxmlformats.org/drawingml/2006/main"/>
        </p:blipFill>
        <p:spPr>
          <a:xfrm xmlns:a="http://schemas.openxmlformats.org/drawingml/2006/main">
            <a:off x="5962650" y="1733550"/>
            <a:ext cx="5429250" cy="3352800"/>
          </a:xfrm>
          <a:prstGeom xmlns:a="http://schemas.openxmlformats.org/drawingml/2006/main" prst="roundRect">
            <a:avLst>
              <a:gd name="adj" fmla="val 3409"/>
            </a:avLst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F4F4D6-28C1-4025-8D7A-11A28B8FB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9347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0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1E3907-882E-471D-96B2-D36E6DA0B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62625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14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B4145A"/>
                </a:solidFill>
                <a:latin typeface="Helvetica Neue"/>
                <a:ea typeface="Helvetica Neue"/>
                <a:cs typeface="Helvetica Neue"/>
              </a:rPr>
              <a:t>Trade-off utama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CAE290-4027-40D5-8B85-7361C0DEB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71500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781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rPr>
              <a:t>Kemudahan setup Colab ditukar dengan kontrol, stabilitas, dan kemampuan pemeliharaan yang lebih tinggi.</a:t>
            </a:r>
          </a:p>
        </p:txBody>
      </p:sp>
    </p:spTree>
    <p:extLst>
      <p:ext uri="{BB962C8B-B14F-4D97-AF65-F5344CB8AC3E}">
        <p14:creationId xmlns:p14="http://schemas.microsoft.com/office/powerpoint/2010/main" val="1192184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22AE2BC-56B6-4768-852D-458CEF233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A8CAFE-83A7-448B-98AF-9EB054AB2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14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4145A"/>
                </a:solidFill>
                <a:latin typeface="Helvetica Neue"/>
                <a:ea typeface="Helvetica Neue"/>
                <a:cs typeface="Helvetica Neue"/>
              </a:rPr>
              <a:t>MIDETA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2B2D91-C28F-402A-A94D-2E97A228B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rPr>
              <a:t>MIDETA saat ini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41BD87-8C85-4CFC-B7B6-7758A282A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DC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1862E5-2B31-4CCB-86D8-8D7B5A5A3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3810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F68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F6874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CFC744-5A85-476B-9382-D416A7B4C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rPr>
              <a:t>Hawarisma Rafanidya Singgih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E7509F-0979-4EE4-A3F9-DDE719B09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553200"/>
            <a:ext cx="2533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rPr>
              <a:t>Media Intelligence Tools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37DB0B-8585-4C02-9C20-7C8943FBD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rPr>
              <a:t>Satu workspace lokal untuk empat pekerjaan utama.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67B4C8-8188-4D8D-8AF8-15E4C9C13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95550"/>
            <a:ext cx="1790700" cy="1790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5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50594C-6006-4838-BFF4-1AD10E324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038475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428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MIDETA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0BDE6E-DCDD-47AB-B852-677A66CE3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3476625"/>
            <a:ext cx="971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43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43F8C"/>
                </a:solidFill>
                <a:latin typeface="Helvetica Neue"/>
                <a:ea typeface="Helvetica Neue"/>
                <a:cs typeface="Helvetica Neue"/>
              </a:rPr>
              <a:t>LOCAL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5639BF-1E23-4A48-8EF7-F7A382651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143250"/>
            <a:ext cx="1466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7DC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03B80B-7787-4D2F-B9BA-BB328BD81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143250"/>
            <a:ext cx="1466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7DC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AF5948-6C53-438A-9CCB-6440D2161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86250"/>
            <a:ext cx="0" cy="666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7DC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F84727-53DE-4D29-B9A9-AFCE4F448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414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B4145A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61EA4B-CC42-4344-AC83-D2850E404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717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rPr>
              <a:t>Social Media Enrichment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0372C1-D884-416D-816C-77B1DC2C3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71750"/>
            <a:ext cx="285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9383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rPr>
              <a:t>Metadata posting, engagement, followers, dan views yang tersedia.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6A8D0D-7973-4B75-99BB-DED4B71FB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717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414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B4145A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BE09F3-5551-4BD1-9C06-2B9E3E1DA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1717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rPr>
              <a:t>Comment Scrapper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51000C-8E72-4E83-97A0-9BE7325A6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571750"/>
            <a:ext cx="285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rPr>
              <a:t>Komentar utama, reply, likes, dan jumlah balasan.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9B9B08-C7DB-43C1-A742-E582FD1DF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414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B4145A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814B37-F0A8-4BBF-9DC4-156968515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815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rPr>
              <a:t>Conventional Media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ED253C-558E-4DFE-BDA8-DA204C045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81550"/>
            <a:ext cx="285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rPr>
              <a:t>Artikel bersih, journalist, scope, tier, tone, dan quote mention.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9B80C4-482E-4F6A-A7F8-0C438734A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3815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414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B4145A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7E7B2F-9F8A-4102-9250-F11EF5E26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3815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rPr>
              <a:t>Riwayat Analisis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A603C3-18A5-4413-B22A-DE5D2A368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781550"/>
            <a:ext cx="285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rPr>
              <a:t>Hasil lokal yang dapat dibuka kembali dan diunduh.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94C141-AAEC-4CC1-8607-19BFD1C01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57212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414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B4145A"/>
                </a:solidFill>
                <a:latin typeface="Helvetica Neue"/>
                <a:ea typeface="Helvetica Neue"/>
                <a:cs typeface="Helvetica Neue"/>
              </a:rPr>
              <a:t>YouTube   TikTok   Facebook   Instagram   Threads   X   Media online</a:t>
            </a:r>
          </a:p>
        </p:txBody>
      </p:sp>
    </p:spTree>
    <p:extLst>
      <p:ext uri="{BB962C8B-B14F-4D97-AF65-F5344CB8AC3E}">
        <p14:creationId xmlns:p14="http://schemas.microsoft.com/office/powerpoint/2010/main" val="3499194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264617C-95AC-4CC2-B695-FF5D99E9B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3CD588-8507-41FC-9F29-FDA4A47BB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14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4145A"/>
                </a:solidFill>
                <a:latin typeface="Helvetica Neue"/>
                <a:ea typeface="Helvetica Neue"/>
                <a:cs typeface="Helvetica Neue"/>
              </a:rPr>
              <a:t>MIDETA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D69F3F-186A-4BCB-99A8-D020E33D2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rPr>
              <a:t>Alur kerja utama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00EAA3-5110-4FC2-8D81-DAE8D253D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DC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5E8913-231E-4736-B2A9-9E107A473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3810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F68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F6874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B2B346-F95D-4ADE-8D3B-88A96BF89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rPr>
              <a:t>Hawarisma Rafanidya Singgih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E2441C-8BD5-4C98-90E6-8CA658716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553200"/>
            <a:ext cx="2533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rPr>
              <a:t>Media Intelligence Tools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B6DD0B-FFE2-431D-AAB1-AF61A7230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923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rPr>
              <a:t>Setiap URL tetap memiliki satu baris hasil agar data mudah dicocokkan kembali.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A4DB53-9723-4D36-BD22-FA623E88A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857500"/>
            <a:ext cx="9867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E7DC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BA8529-E927-4B44-B517-6B5452598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6479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3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7FA6A9-849B-4EA8-801D-D032AE1BE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7146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CF7AEE-2B32-4F43-B71C-B9D4EFE56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81375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rPr>
              <a:t>Masukkan URL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88E448-A380-4D93-9628-BE9C07DF4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829050"/>
            <a:ext cx="190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rPr>
              <a:t>Satu URL per baris, termasuk short link.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0A36A3-C66F-42D3-A883-DDF6EBFE2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6479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3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8C05B7-1318-4702-A77F-B05986F23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7146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08AA94-ACD7-4BE3-8C6B-865651D11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381375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rPr>
              <a:t>Kenali sumber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671919-CE02-4D40-9565-C85F35187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829050"/>
            <a:ext cx="190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rPr>
              <a:t>Platform dan format tautan diperiksa.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44C4C3-81AE-444D-A100-DFC88772D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26479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3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6D6A96-A2D0-42B8-8A19-DD46CCB1B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7146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3C8E4C-6DB5-4550-A2EF-0617C8C3E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381375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rPr>
              <a:t>Ambil data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1E2FD2-0C42-4FB1-9E4B-546F63C64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829050"/>
            <a:ext cx="190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rPr>
              <a:t>Sumber publik atau sesi login digunakan.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9D1B7B-F7AE-4BC9-8153-52F1F19D1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6479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3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D03F4C-75B5-4B3D-8F81-90B89EAD0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7146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4B0414-EA24-4341-BD4E-67DCDE5BD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381375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rPr>
              <a:t>Rapikan hasil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378CB5-FC5B-4D4E-B080-5CF8F03B0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829050"/>
            <a:ext cx="190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rPr>
              <a:t>Field dinormalisasi tanpa mengubah urutan.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19E49D-5319-4350-874D-7D1C068E9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26479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14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F4AEDE-C1A5-4AA3-9368-755E0F6DE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7146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48B9BE0-B08B-4B6D-8038-D1F59F2EC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381375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rPr>
              <a:t>Review &amp; ekspor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9BF192-58BF-43CA-8409-42AF97AB3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829050"/>
            <a:ext cx="190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rPr>
              <a:t>Status diperiksa lalu diunduh ke CSV/XLSX.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9E84538-9A80-4328-97FB-D12A4C675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124450"/>
            <a:ext cx="96774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96B3F49-4F1C-4ECE-A386-587617F40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3149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82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6825D"/>
                </a:solidFill>
                <a:latin typeface="Helvetica Neue"/>
                <a:ea typeface="Helvetica Neue"/>
                <a:cs typeface="Helvetica Neue"/>
              </a:rPr>
              <a:t>URL gagal tetap dipertahankan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7DF61BB-E585-493E-835E-A7A4E483C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267325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4997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5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151B"/>
                </a:solidFill>
                <a:latin typeface="Helvetica Neue"/>
                <a:ea typeface="Helvetica Neue"/>
                <a:cs typeface="Helvetica Neue"/>
              </a:rPr>
              <a:t>Baris tidak dihapus. MIDETA menuliskan status error sehingga posisi keluaran tetap sama dengan input.</a:t>
            </a:r>
          </a:p>
        </p:txBody>
      </p:sp>
    </p:spTree>
    <p:extLst>
      <p:ext uri="{BB962C8B-B14F-4D97-AF65-F5344CB8AC3E}">
        <p14:creationId xmlns:p14="http://schemas.microsoft.com/office/powerpoint/2010/main" val="20565065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420F987-9FB7-4407-A8BA-7612A4908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493259-CFC6-427E-8AEB-88B3277E3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14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4145A"/>
                </a:solidFill>
                <a:latin typeface="Helvetica Neue"/>
                <a:ea typeface="Helvetica Neue"/>
                <a:cs typeface="Helvetica Neue"/>
              </a:rPr>
              <a:t>MIDETA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10D687-64A7-417B-8E5E-22267AD47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rPr>
              <a:t>Cakupan dan hasil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0A5B27-B2A5-4B99-92F9-02F0C2A76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DC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84902C-A119-4BB7-85B2-7F952738F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3810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F68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F6874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480056-3369-4F88-AA10-CFA33E862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rPr>
              <a:t>Hawarisma Rafanidya Singgih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A3FDE5-D2F4-4CC7-B341-B50125AE2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553200"/>
            <a:ext cx="2533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rPr>
              <a:t>Media Intelligence Tools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A22C32-A9EA-401C-9FEE-89D589E9D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414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B4145A"/>
                </a:solidFill>
                <a:latin typeface="Helvetica Neue"/>
                <a:ea typeface="Helvetica Neue"/>
                <a:cs typeface="Helvetica Neue"/>
              </a:rPr>
              <a:t>Kapasitas proses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40777C-2552-4A86-863A-81EB98F52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8596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rPr>
              <a:t>1.000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BE757D-554D-4423-BD72-BD325DA7D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9591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rPr>
              <a:t>URL per antrean enrichment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8A2A66-DF46-4824-9A62-0407B75F3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90500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8596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rPr>
              <a:t>2.000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7D8BC9-6812-41EC-82CD-188B664FC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4003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441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rPr>
              <a:t>komentar maksimal per URL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A50497-74E9-4B8A-88C5-D59648A29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190500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8596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BE480F-F851-4B3A-813D-D53B078DE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4003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972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rPr>
              <a:t>artikel publik diproses paralel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7E1AD9-6618-49B1-8294-06265DFAD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5049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414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B4145A"/>
                </a:solidFill>
                <a:latin typeface="Helvetica Neue"/>
                <a:ea typeface="Helvetica Neue"/>
                <a:cs typeface="Helvetica Neue"/>
              </a:rPr>
              <a:t>Platform sosial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E9FEB6-4E20-4F3A-8F24-5DF381E09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952625"/>
            <a:ext cx="314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rPr>
              <a:t>YouTube   TikTok</a:t>
            </a:r>
          </a:p>
          <a:p xmlns:a="http://schemas.openxmlformats.org/drawingml/2006/main">
            <a:pPr algn="l">
              <a:defRPr sz="1650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rPr>
              <a:t>Facebook   Instagram</a:t>
            </a:r>
          </a:p>
          <a:p xmlns:a="http://schemas.openxmlformats.org/drawingml/2006/main">
            <a:pPr algn="l">
              <a:defRPr sz="1650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rPr>
              <a:t>Threads   X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8F2D11-BCDD-4F47-AD29-10961FC10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56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DC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431BDC-C63F-4824-A3D7-12C3E57D8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61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14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4145A"/>
                </a:solidFill>
                <a:latin typeface="Helvetica Neue"/>
                <a:ea typeface="Helvetica Neue"/>
                <a:cs typeface="Helvetica Neue"/>
              </a:rPr>
              <a:t>POSTING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607C7B-1F85-4C11-9B1E-9FE33D735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3124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5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151B"/>
                </a:solidFill>
                <a:latin typeface="Helvetica Neue"/>
                <a:ea typeface="Helvetica Neue"/>
                <a:cs typeface="Helvetica Neue"/>
              </a:rPr>
              <a:t>Tanggal, author, caption, followers, views, likes, comments, bookmark, shares, dan repost.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666AA3-2C9F-46A1-841F-4A67D23A9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72075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43F8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F40534-45D8-4155-9F6B-311A3B0B6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4861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14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4145A"/>
                </a:solidFill>
                <a:latin typeface="Helvetica Neue"/>
                <a:ea typeface="Helvetica Neue"/>
                <a:cs typeface="Helvetica Neue"/>
              </a:rPr>
              <a:t>KOMENTAR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149188-EFB4-4D2C-ADDD-6F9FD777B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905250"/>
            <a:ext cx="3124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5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151B"/>
                </a:solidFill>
                <a:latin typeface="Helvetica Neue"/>
                <a:ea typeface="Helvetica Neue"/>
                <a:cs typeface="Helvetica Neue"/>
              </a:rPr>
              <a:t>Tanggal, username, tipe parent/reply, isi komentar, likes, dan jumlah reply.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1934EF-0A5F-42DF-BE55-BE3937547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172075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4145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574593-DB03-47E3-BD07-9D0A8A096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4861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14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4145A"/>
                </a:solidFill>
                <a:latin typeface="Helvetica Neue"/>
                <a:ea typeface="Helvetica Neue"/>
                <a:cs typeface="Helvetica Neue"/>
              </a:rPr>
              <a:t>ARTIKEL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542A0D-BE67-4219-A55B-724D9869B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905250"/>
            <a:ext cx="3124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5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151B"/>
                </a:solidFill>
                <a:latin typeface="Helvetica Neue"/>
                <a:ea typeface="Helvetica Neue"/>
                <a:cs typeface="Helvetica Neue"/>
              </a:rPr>
              <a:t>Tanggal, media, scope, tier, judul, isi bersih, journalist, tone, dan quote mention.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C85A49-E682-4A07-A453-165C7E41D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172075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43F8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70A42D-0369-47BD-9EDC-25E3D5BC1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F68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6F6874"/>
                </a:solidFill>
                <a:latin typeface="Helvetica Neue"/>
                <a:ea typeface="Helvetica Neue"/>
                <a:cs typeface="Helvetica Neue"/>
              </a:rPr>
              <a:t>Format keluaran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954481-A15C-44FD-A424-7BF5005D4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486400"/>
            <a:ext cx="9096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rPr>
              <a:t>CSV untuk data teks • XLSX dengan format tabel • riwayat lokal untuk membuka hasil sebelumnya</a:t>
            </a:r>
          </a:p>
        </p:txBody>
      </p:sp>
    </p:spTree>
    <p:extLst>
      <p:ext uri="{BB962C8B-B14F-4D97-AF65-F5344CB8AC3E}">
        <p14:creationId xmlns:p14="http://schemas.microsoft.com/office/powerpoint/2010/main" val="199077508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FAA6CA-FEE7-464E-8DC0-C3176E08E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ADA28F-2AFA-4B6D-AD50-3E54769EF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14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4145A"/>
                </a:solidFill>
                <a:latin typeface="Helvetica Neue"/>
                <a:ea typeface="Helvetica Neue"/>
                <a:cs typeface="Helvetica Neue"/>
              </a:rPr>
              <a:t>MIDETA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CA20E9-1EF4-4B39-A8E3-F818AC5E7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rPr>
              <a:t>Google Colab dan VS Code lokal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79813A-7969-4781-9108-72B650168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DC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338028-063B-41A6-8481-77FA98F7D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3810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F68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F6874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B082E9-251B-4E61-8606-DF42016D1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rPr>
              <a:t>Hawarisma Rafanidya Singgih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4430BA-27F4-4940-B17D-40DC999DB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553200"/>
            <a:ext cx="2533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rPr>
              <a:t>Media Intelligence Tools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594D21-C8D4-42BD-BE4B-3D17F76E1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rPr>
              <a:t>Perpindahan platform membawa manfaat operasional sekaligus tanggung jawab pemeliharaan baru.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609600" y="1981200"/>
          <a:ext xmlns:a="http://schemas.openxmlformats.org/drawingml/2006/main" cx="10972800" cy="3943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4581525"/>
                <a:gridCol w="4581525"/>
              </a:tblGrid>
              <a:tr h="4381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Aspek</a:t>
                      </a:r>
                    </a:p>
                  </a:txBody>
                  <a:tcPr marL="114300" marR="114300" marT="85725" marB="85725">
                    <a:solidFill>
                      <a:srgbClr val="1715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Google Colab</a:t>
                      </a:r>
                    </a:p>
                  </a:txBody>
                  <a:tcPr marL="114300" marR="114300" marT="85725" marB="85725">
                    <a:solidFill>
                      <a:srgbClr val="1715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VS Code + terminal</a:t>
                      </a:r>
                    </a:p>
                  </a:txBody>
                  <a:tcPr marL="114300" marR="114300" marT="85725" marB="85725">
                    <a:solidFill>
                      <a:srgbClr val="17151B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B4145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Memulai</a:t>
                      </a:r>
                    </a:p>
                  </a:txBody>
                  <a:tcPr marL="114300" marR="95250" marT="76200" marB="76200">
                    <a:solidFill>
                      <a:srgbClr val="FF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151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+ Cepat dicoba</a:t>
                      </a:r>
                    </a:p>
                    <a:p>
                      <a:r>
                        <a:rPr sz="1200" b="0">
                          <a:solidFill>
                            <a:srgbClr val="17151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− Setup ulang ketika runtime berubah</a:t>
                      </a:r>
                    </a:p>
                  </a:txBody>
                  <a:tcPr marL="133350" marR="11430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151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+ Lingkungan dapat digunakan kembali</a:t>
                      </a:r>
                    </a:p>
                    <a:p>
                      <a:r>
                        <a:rPr sz="1200" b="0">
                          <a:solidFill>
                            <a:srgbClr val="17151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− Perlu instalasi awal</a:t>
                      </a:r>
                    </a:p>
                  </a:txBody>
                  <a:tcPr marL="133350" marR="114300" marT="66675" marB="66675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B4145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Sesi browser</a:t>
                      </a:r>
                    </a:p>
                  </a:txBody>
                  <a:tcPr marL="114300" marR="95250" marT="76200" marB="76200">
                    <a:solidFill>
                      <a:srgbClr val="FF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151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+ Cocok untuk akses publik sederhana</a:t>
                      </a:r>
                    </a:p>
                    <a:p>
                      <a:r>
                        <a:rPr sz="1200" b="0">
                          <a:solidFill>
                            <a:srgbClr val="17151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− Login dan browser profile terbatas</a:t>
                      </a:r>
                    </a:p>
                  </a:txBody>
                  <a:tcPr marL="133350" marR="11430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151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+ Sesi Chrome dapat dipakai kembali</a:t>
                      </a:r>
                    </a:p>
                    <a:p>
                      <a:r>
                        <a:rPr sz="1200" b="0">
                          <a:solidFill>
                            <a:srgbClr val="17151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− Bergantung pada perangkat lokal</a:t>
                      </a:r>
                    </a:p>
                  </a:txBody>
                  <a:tcPr marL="133350" marR="114300" marT="66675" marB="66675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B4145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Proses panjang</a:t>
                      </a:r>
                    </a:p>
                  </a:txBody>
                  <a:tcPr marL="114300" marR="95250" marT="76200" marB="76200">
                    <a:solidFill>
                      <a:srgbClr val="FF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151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+ Mudah menjalankan eksperimen kecil</a:t>
                      </a:r>
                    </a:p>
                    <a:p>
                      <a:r>
                        <a:rPr sz="1200" b="0">
                          <a:solidFill>
                            <a:srgbClr val="17151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− Runtime dapat terputus atau reset</a:t>
                      </a:r>
                    </a:p>
                  </a:txBody>
                  <a:tcPr marL="133350" marR="11430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151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+ Antrean dan riwayat dapat dilanjutkan</a:t>
                      </a:r>
                    </a:p>
                    <a:p>
                      <a:r>
                        <a:rPr sz="1200" b="0">
                          <a:solidFill>
                            <a:srgbClr val="17151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− Komputer harus tetap aktif</a:t>
                      </a:r>
                    </a:p>
                  </a:txBody>
                  <a:tcPr marL="133350" marR="114300" marT="66675" marB="66675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B4145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Pemeliharaan</a:t>
                      </a:r>
                    </a:p>
                  </a:txBody>
                  <a:tcPr marL="114300" marR="95250" marT="76200" marB="76200">
                    <a:solidFill>
                      <a:srgbClr val="FF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151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+ Satu notebook mudah dibagikan</a:t>
                      </a:r>
                    </a:p>
                    <a:p>
                      <a:r>
                        <a:rPr sz="1200" b="0">
                          <a:solidFill>
                            <a:srgbClr val="17151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− Cepat menjadi panjang dan rapuh</a:t>
                      </a:r>
                    </a:p>
                  </a:txBody>
                  <a:tcPr marL="133350" marR="11430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151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+ Modul, test, dan Git lebih rapi</a:t>
                      </a:r>
                    </a:p>
                    <a:p>
                      <a:r>
                        <a:rPr sz="1200" b="0">
                          <a:solidFill>
                            <a:srgbClr val="17151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− Perubahan perlu diuji</a:t>
                      </a:r>
                    </a:p>
                  </a:txBody>
                  <a:tcPr marL="133350" marR="114300" marT="66675" marB="66675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B4145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Penggunaan tim</a:t>
                      </a:r>
                    </a:p>
                  </a:txBody>
                  <a:tcPr marL="114300" marR="95250" marT="76200" marB="76200">
                    <a:solidFill>
                      <a:srgbClr val="FF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151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+ Tautan notebook mudah dibuka</a:t>
                      </a:r>
                    </a:p>
                    <a:p>
                      <a:r>
                        <a:rPr sz="1200" b="0">
                          <a:solidFill>
                            <a:srgbClr val="17151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− Hasil bergantung pada runtime pengguna</a:t>
                      </a:r>
                    </a:p>
                  </a:txBody>
                  <a:tcPr marL="133350" marR="11430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151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+ Workflow lebih konsisten</a:t>
                      </a:r>
                    </a:p>
                    <a:p>
                      <a:r>
                        <a:rPr sz="1200" b="0">
                          <a:solidFill>
                            <a:srgbClr val="17151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− Distribusi membutuhkan setup atau hosting</a:t>
                      </a:r>
                    </a:p>
                  </a:txBody>
                  <a:tcPr marL="133350" marR="114300" marT="66675" marB="6667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55988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909CA08-DB4A-41BF-A59A-70736CC38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83ED0C-AC2A-4876-8A1A-C459961C7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14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4145A"/>
                </a:solidFill>
                <a:latin typeface="Helvetica Neue"/>
                <a:ea typeface="Helvetica Neue"/>
                <a:cs typeface="Helvetica Neue"/>
              </a:rPr>
              <a:t>MIDETA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FF9983-935F-4739-A063-FDE09D8DD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rPr>
              <a:t>Batasan MIDETA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70F760-F7F0-4C46-A83B-FF1FEA922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DC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6E1FD3-3B1E-43EB-A69B-F8C5D22E8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3810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F68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F6874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BE38B5-EE37-46D7-B136-661CC8958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rPr>
              <a:t>Hawarisma Rafanidya Singgih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1A80FC-CFF5-4E7E-BF86-1505D9886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553200"/>
            <a:ext cx="2533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rPr>
              <a:t>Media Intelligence Tools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26FE20-F55A-4097-B5FD-9D3F8CC06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EEC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E2C067-0A16-4463-AE52-C36647352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76400"/>
            <a:ext cx="2333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Batasan paling penting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955CE2-13BA-4A4D-B1B5-693485723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619250"/>
            <a:ext cx="809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rPr>
              <a:t>Jika platform mengubah struktur posting, connector dapat berhenti membaca data sampai kodenya diperbarui.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425000-EFBA-4307-8975-477999792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14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B4145A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AFB569-44C8-44D2-BE22-9935DCAFB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241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rPr>
              <a:t>Perubahan tampilan dan struktur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FB02A4-A996-47F2-AE9B-7483B35EA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4800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rPr>
              <a:t>MIDETA bergantung pada HTML, data JSON, label, dan pola halaman yang ditampilkan platform.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98E8E2-0EDF-4DA0-8B6A-21622DDC6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241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14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B4145A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746BD3-9EA6-44C0-8A85-4C2A20811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7241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rPr>
              <a:t>Akses terbatas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A6E69A-FE0A-4CBC-AA7F-587B5C5C0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04800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rPr>
              <a:t>Posting privat, artikel terhapus, paywall, batas usia atau wilayah dapat menghasilkan Tidak tersedia.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4C7FF6-ED9C-43D7-B8FB-59378BF2A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14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B4145A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80CC31-1B22-4509-9C05-E6FDF7CD9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909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rPr>
              <a:t>Proteksi platform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149B11-14F3-404E-8749-5913DAABD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1480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rPr>
              <a:t>CAPTCHA, rate limit, temporary block, atau sesi kedaluwarsa dapat menghentikan proses.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67718C-4BA5-4045-9257-07839FDC2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909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14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B4145A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7C1DB2-95DC-47DD-8E7C-07AE7CA24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7909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rPr>
              <a:t>Kelengkapan data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4BA091-5699-43E6-9542-E7CB41B1E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11480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rPr>
              <a:t>Tidak semua platform menampilkan views, followers, bookmark, share, atau seluruh komentar.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FD87DE-51BD-4849-9747-7412BA224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14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B4145A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FC4860-B474-4639-8931-ED416AB5A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577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rPr>
              <a:t>Komentar tersembunyi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898BF8-9E67-43E7-8048-10428424F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8160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rPr>
              <a:t>Komentar yang difilter, dihapus, atau tidak dimuat oleh platform tidak dapat dikumpulkan.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CAD38A-496C-4E7A-A131-523975777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8577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14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B4145A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4BC76A-B0CC-49C4-8680-BF119D9D3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8577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rPr>
              <a:t>Data bersifat snapshot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372DD4-FB15-4922-B031-038416105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18160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rPr>
              <a:t>Angka engagement dapat berubah setelah proses selesai dan perlu diperbarui jika dipakai kembali.</a:t>
            </a:r>
          </a:p>
        </p:txBody>
      </p:sp>
    </p:spTree>
    <p:extLst>
      <p:ext uri="{BB962C8B-B14F-4D97-AF65-F5344CB8AC3E}">
        <p14:creationId xmlns:p14="http://schemas.microsoft.com/office/powerpoint/2010/main" val="143854190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0850ED6-465A-4E6A-AA92-74C2991B2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974F8E-486C-44B4-90F0-3F2E136A8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14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4145A"/>
                </a:solidFill>
                <a:latin typeface="Helvetica Neue"/>
                <a:ea typeface="Helvetica Neue"/>
                <a:cs typeface="Helvetica Neue"/>
              </a:rPr>
              <a:t>MIDETA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2215F2-35DC-4470-8160-2AAFBAC43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rPr>
              <a:t>Penggunaan hasil dan prioritas pengembangan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206B0E-BF66-484F-B231-84B10C700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DC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D54369-6138-496E-92C1-ECD75C346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3810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F68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F6874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4CAA0F-E731-43A1-A45C-72717C996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rPr>
              <a:t>Hawarisma Rafanidya Singgih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3707C6-6762-40A6-A566-3AFAEEAE3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553200"/>
            <a:ext cx="2533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rPr>
              <a:t>Media Intelligence Tools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89ED15-E3B4-4F47-A1DC-796D2A97B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14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B4145A"/>
                </a:solidFill>
                <a:latin typeface="Helvetica Neue"/>
                <a:ea typeface="Helvetica Neue"/>
                <a:cs typeface="Helvetica Neue"/>
              </a:rPr>
              <a:t>Posisi MIDETA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A0E983-86E1-47CD-AAA7-43288B052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666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1034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rPr>
              <a:t>Alat bantu pengumpulan dan perapihan data, bukan satu-satunya sumber kebenaran.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4F4EBD-60F9-49BC-AE74-34BB832D3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504950"/>
            <a:ext cx="36766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0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6B110B-89F2-4C48-B4C5-C0B97D053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04975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14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B4145A"/>
                </a:solidFill>
                <a:latin typeface="Helvetica Neue"/>
                <a:ea typeface="Helvetica Neue"/>
                <a:cs typeface="Helvetica Neue"/>
              </a:rPr>
              <a:t>Prinsip pemeriksaan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B1309E-8C74-4B05-9C9F-D1D657FFA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574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rPr>
              <a:t>Tinjau sampel hasil sebelum data digunakan untuk laporan atau keputusan.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101B68-1309-48F4-AC57-6B6ECE071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DC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EBCDA1-6551-4DF5-BCBC-35B194195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rPr>
              <a:t>Saat menggunakan hasil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ED6EFD-B9E8-40A2-B66D-B63BDF1F4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3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666BC5-A798-43AC-BA4D-699BDB8B9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95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97F843-87C4-4300-8712-41C752AFA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43325"/>
            <a:ext cx="4524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rPr>
              <a:t>Periksa baris bertanda Tidak tersedia, URL tidak dapat diproses, atau [CHECK].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AE24FB-D5D4-41FB-A482-2C09C8F73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3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D6808D-2C3D-486D-95C4-58CA15E64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8627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C6F9BD-84D3-4A34-9721-00E67D868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10075"/>
            <a:ext cx="4524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5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151B"/>
                </a:solidFill>
                <a:latin typeface="Helvetica Neue"/>
                <a:ea typeface="Helvetica Neue"/>
                <a:cs typeface="Helvetica Neue"/>
              </a:rPr>
              <a:t>Bandingkan beberapa URL secara manual untuk memastikan format platform belum berubah.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CA10F9-7148-431D-B119-7F6D326EE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863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3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070223-CFCF-4796-B16C-2640CA461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530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AC5D68-F180-4B97-B4B4-59065D931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076825"/>
            <a:ext cx="4524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5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151B"/>
                </a:solidFill>
                <a:latin typeface="Helvetica Neue"/>
                <a:ea typeface="Helvetica Neue"/>
                <a:cs typeface="Helvetica Neue"/>
              </a:rPr>
              <a:t>Simpan tanggal pengambilan karena engagement merupakan snapshot.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F0AA93-9D18-43D1-8A7A-9B1683D6C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2575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rPr>
              <a:t>Prioritas pengembangan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94F345-471E-44D0-9C0C-E8F093369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7528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14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DE6E36-0B97-43C8-9A63-4D296CD87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8195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DECD97-A81D-46A1-8CAB-7A899723B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743325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rPr>
              <a:t>Pantau perubahan struktur tiap platform dan simpan contoh halaman untuk regression test.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643B5A-917C-4D9D-B2CD-A08A8C692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4196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14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303594A-B485-443E-B21B-3563FDD33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448627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CD174A2-0F3A-4907-BF5A-F07591259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410075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5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151B"/>
                </a:solidFill>
                <a:latin typeface="Helvetica Neue"/>
                <a:ea typeface="Helvetica Neue"/>
                <a:cs typeface="Helvetica Neue"/>
              </a:rPr>
              <a:t>Pisahkan parser per platform agar perbaikan tidak merusak connector lain.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3310A0-656E-4D02-8C32-2960E40AD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0863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14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D9477B5-01F1-47EC-8CCE-460DD8CDF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51530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A563C0E-1F49-44F1-8855-A00E8B871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076825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5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151B"/>
                </a:solidFill>
                <a:latin typeface="Helvetica Neue"/>
                <a:ea typeface="Helvetica Neue"/>
                <a:cs typeface="Helvetica Neue"/>
              </a:rPr>
              <a:t>Tampilkan alasan gagal yang spesifik agar pengguna tahu kapan perlu retry atau update parser.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462F171-75B9-4C36-939C-84DECAAE9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43F8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BBDC890-8DA5-4156-B332-48F601FB8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B414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B4145A"/>
                </a:solidFill>
                <a:latin typeface="Helvetica Neue"/>
                <a:ea typeface="Helvetica Neue"/>
                <a:cs typeface="Helvetica Neue"/>
              </a:rPr>
              <a:t>Keandalan MIDETA bergantung pada pemantauan platform dan pembaruan connector secara rutin.</a:t>
            </a:r>
          </a:p>
        </p:txBody>
      </p:sp>
    </p:spTree>
    <p:extLst>
      <p:ext uri="{BB962C8B-B14F-4D97-AF65-F5344CB8AC3E}">
        <p14:creationId xmlns:p14="http://schemas.microsoft.com/office/powerpoint/2010/main" val="20511680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2026-09-23T12:30:29.9660000Z</dcterms:created>
  <dcterms:modified xsi:type="dcterms:W3CDTF">2026-09-23T12:30:29.9660000Z</dcterms:modified>
</coreProperties>
</file>